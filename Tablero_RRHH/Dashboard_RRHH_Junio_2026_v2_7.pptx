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7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Nómina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CE-4ACC-95FC-28C39BEDF917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CE-4ACC-95FC-28C39BEDF917}"/>
              </c:ext>
            </c:extLst>
          </c:dPt>
          <c:dPt>
            <c:idx val="2"/>
            <c:bubble3D val="0"/>
            <c:spPr>
              <a:solidFill>
                <a:srgbClr val="8EA9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CE-4ACC-95FC-28C39BEDF917}"/>
              </c:ext>
            </c:extLst>
          </c:dPt>
          <c:dPt>
            <c:idx val="3"/>
            <c:bubble3D val="0"/>
            <c:spPr>
              <a:solidFill>
                <a:srgbClr val="80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CE-4ACC-95FC-28C39BEDF917}"/>
              </c:ext>
            </c:extLst>
          </c:dPt>
          <c:dLbls>
            <c:dLbl>
              <c:idx val="0"/>
              <c:layout>
                <c:manualLayout>
                  <c:x val="-1.1828883813132203E-5"/>
                  <c:y val="9.3852324366627167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CE-4ACC-95FC-28C39BEDF917}"/>
                </c:ext>
              </c:extLst>
            </c:dLbl>
            <c:dLbl>
              <c:idx val="1"/>
              <c:layout>
                <c:manualLayout>
                  <c:x val="0.23754340419206715"/>
                  <c:y val="-0.10059535015928917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CE-4ACC-95FC-28C39BEDF917}"/>
                </c:ext>
              </c:extLst>
            </c:dLbl>
            <c:dLbl>
              <c:idx val="2"/>
              <c:layout>
                <c:manualLayout>
                  <c:x val="-3.0569183570439216E-2"/>
                  <c:y val="4.0106998755957191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DCE-4ACC-95FC-28C39BEDF9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DCE-4ACC-95FC-28C39BEDF9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A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Taller CIMOMET (22)</c:v>
                </c:pt>
                <c:pt idx="1">
                  <c:v>Taller COMOING (39)</c:v>
                </c:pt>
                <c:pt idx="2">
                  <c:v>Mensual CIMOMET (25)</c:v>
                </c:pt>
                <c:pt idx="3">
                  <c:v>Mensual COMOING (2)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39</c:v>
                </c:pt>
                <c:pt idx="2">
                  <c:v>25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DCE-4ACC-95FC-28C39BEDF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AFA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Especialidades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C6A-4C83-929A-9D45B95FC77A}"/>
              </c:ext>
            </c:extLst>
          </c:dPt>
          <c:dPt>
            <c:idx val="1"/>
            <c:bubble3D val="0"/>
            <c:spPr>
              <a:solidFill>
                <a:srgbClr val="C55A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6A-4C83-929A-9D45B95FC77A}"/>
              </c:ext>
            </c:extLst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6A-4C83-929A-9D45B95FC77A}"/>
              </c:ext>
            </c:extLst>
          </c:dPt>
          <c:dPt>
            <c:idx val="3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C6A-4C83-929A-9D45B95FC77A}"/>
              </c:ext>
            </c:extLst>
          </c:dPt>
          <c:dPt>
            <c:idx val="4"/>
            <c:bubble3D val="0"/>
            <c:spPr>
              <a:solidFill>
                <a:srgbClr val="BF9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C6A-4C83-929A-9D45B95FC77A}"/>
              </c:ext>
            </c:extLst>
          </c:dPt>
          <c:dPt>
            <c:idx val="5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C6A-4C83-929A-9D45B95FC77A}"/>
              </c:ext>
            </c:extLst>
          </c:dPt>
          <c:dLbls>
            <c:dLbl>
              <c:idx val="0"/>
              <c:layout>
                <c:manualLayout>
                  <c:x val="1.563666148874248E-2"/>
                  <c:y val="4.8154952853115586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6A-4C83-929A-9D45B95FC77A}"/>
                </c:ext>
              </c:extLst>
            </c:dLbl>
            <c:dLbl>
              <c:idx val="1"/>
              <c:layout>
                <c:manualLayout>
                  <c:x val="9.8841439462924272E-2"/>
                  <c:y val="-6.92762710216778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C6A-4C83-929A-9D45B95FC77A}"/>
                </c:ext>
              </c:extLst>
            </c:dLbl>
            <c:dLbl>
              <c:idx val="2"/>
              <c:layout>
                <c:manualLayout>
                  <c:x val="-2.7735149177781349E-2"/>
                  <c:y val="-1.5369398269660738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C6A-4C83-929A-9D45B95FC77A}"/>
                </c:ext>
              </c:extLst>
            </c:dLbl>
            <c:dLbl>
              <c:idx val="3"/>
              <c:layout>
                <c:manualLayout>
                  <c:x val="-2.8537504240541373E-2"/>
                  <c:y val="4.043890347039953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C6A-4C83-929A-9D45B95FC77A}"/>
                </c:ext>
              </c:extLst>
            </c:dLbl>
            <c:dLbl>
              <c:idx val="4"/>
              <c:layout>
                <c:manualLayout>
                  <c:x val="-4.0899798239505777E-2"/>
                  <c:y val="4.1994750656167978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C6A-4C83-929A-9D45B95FC77A}"/>
                </c:ext>
              </c:extLst>
            </c:dLbl>
            <c:dLbl>
              <c:idx val="5"/>
              <c:layout>
                <c:manualLayout>
                  <c:x val="0.14507249093863267"/>
                  <c:y val="1.5432098765432098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A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C6A-4C83-929A-9D45B95FC77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A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Oficial (19)</c:v>
                </c:pt>
                <c:pt idx="1">
                  <c:v>Of. Especializado (16)</c:v>
                </c:pt>
                <c:pt idx="2">
                  <c:v>Of. Multiple (12)</c:v>
                </c:pt>
                <c:pt idx="3">
                  <c:v>Of. Mult. Superior (7)</c:v>
                </c:pt>
                <c:pt idx="4">
                  <c:v>Medio Oficial (6)</c:v>
                </c:pt>
                <c:pt idx="5">
                  <c:v>Ayudante (1)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16</c:v>
                </c:pt>
                <c:pt idx="2">
                  <c:v>12</c:v>
                </c:pt>
                <c:pt idx="3">
                  <c:v>7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C6A-4C83-929A-9D45B95FC7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FAFA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6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3.9123630672926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0A-4E41-9BAF-747AA576F21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6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6"/>
                <c:pt idx="0">
                  <c:v>4114</c:v>
                </c:pt>
                <c:pt idx="1">
                  <c:v>3241</c:v>
                </c:pt>
                <c:pt idx="2">
                  <c:v>4261</c:v>
                </c:pt>
                <c:pt idx="3">
                  <c:v>3913</c:v>
                </c:pt>
                <c:pt idx="4">
                  <c:v>4085</c:v>
                </c:pt>
                <c:pt idx="5">
                  <c:v>4314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0-47A2-8A81-B6C12323AF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COMOING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Lbl>
              <c:idx val="5"/>
              <c:layout>
                <c:manualLayout>
                  <c:x val="0"/>
                  <c:y val="-1.95618153364632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7D8-401C-AC1D-9DCEE91F80D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6"/>
                <c:pt idx="0">
                  <c:v>8051</c:v>
                </c:pt>
                <c:pt idx="1">
                  <c:v>7063</c:v>
                </c:pt>
                <c:pt idx="2">
                  <c:v>8308</c:v>
                </c:pt>
                <c:pt idx="3">
                  <c:v>7613</c:v>
                </c:pt>
                <c:pt idx="4">
                  <c:v>6787</c:v>
                </c:pt>
                <c:pt idx="5">
                  <c:v>7424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10-47A2-8A81-B6C12323AF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Horas Trabajadas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</a:defRPr>
                </a:pPr>
                <a:endParaRPr lang="es-A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Sheet1!$A$2:$F$2</c:f>
              <c:strCache>
                <c:ptCount val="6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12165</c:v>
                </c:pt>
                <c:pt idx="1">
                  <c:v>10304</c:v>
                </c:pt>
                <c:pt idx="2">
                  <c:v>12569</c:v>
                </c:pt>
                <c:pt idx="3">
                  <c:v>11526</c:v>
                </c:pt>
                <c:pt idx="4">
                  <c:v>10872</c:v>
                </c:pt>
                <c:pt idx="5">
                  <c:v>11738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2-4954-A565-340C6D60764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2"/>
          <c:order val="1"/>
          <c:tx>
            <c:strRef>
              <c:f>Sheet1!$D$1</c:f>
              <c:strCache>
                <c:ptCount val="1"/>
                <c:pt idx="0">
                  <c:v>% Ausentismo</c:v>
                </c:pt>
              </c:strCache>
            </c:strRef>
          </c:tx>
          <c:spPr>
            <a:ln w="25400" cap="rnd">
              <a:solidFill>
                <a:srgbClr val="028090"/>
              </a:solidFill>
              <a:prstDash val="dashDot"/>
            </a:ln>
          </c:spPr>
          <c:marker>
            <c:symbol val="circle"/>
            <c:size val="7"/>
            <c:spPr>
              <a:solidFill>
                <a:srgbClr val="028090"/>
              </a:solidFill>
              <a:ln>
                <a:solidFill>
                  <a:srgbClr val="028090"/>
                </a:solidFill>
              </a:ln>
            </c:spPr>
          </c:marker>
          <c:dLbls>
            <c:dLbl>
              <c:idx val="2"/>
              <c:layout>
                <c:manualLayout>
                  <c:x val="-1.6166960611405108E-2"/>
                  <c:y val="8.33854492391077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FE-4AE2-B9EE-F4CBA4732589}"/>
                </c:ext>
              </c:extLst>
            </c:dLbl>
            <c:dLbl>
              <c:idx val="3"/>
              <c:layout>
                <c:manualLayout>
                  <c:x val="-2.0576131687242798E-2"/>
                  <c:y val="7.81738586616635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FE-4AE2-B9EE-F4CBA4732589}"/>
                </c:ext>
              </c:extLst>
            </c:dLbl>
            <c:dLbl>
              <c:idx val="4"/>
              <c:layout>
                <c:manualLayout>
                  <c:x val="-1.6166960611405164E-2"/>
                  <c:y val="6.25390869293308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FE-4AE2-B9EE-F4CBA4732589}"/>
                </c:ext>
              </c:extLst>
            </c:dLbl>
            <c:dLbl>
              <c:idx val="5"/>
              <c:layout>
                <c:manualLayout>
                  <c:x val="-1.9106407995296885E-2"/>
                  <c:y val="5.21159057744422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CFE-4AE2-B9EE-F4CBA4732589}"/>
                </c:ext>
              </c:extLst>
            </c:dLbl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 b="1">
                    <a:solidFill>
                      <a:srgbClr val="FF0000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Sheet1!$A$2:$F$2</c:f>
              <c:strCache>
                <c:ptCount val="6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  <c:pt idx="5">
                  <c:v>Junio</c:v>
                </c:pt>
              </c:strCache>
            </c:strRef>
          </c:cat>
          <c:val>
            <c:numRef>
              <c:f>Sheet1!$B$5:$G$5</c:f>
              <c:numCache>
                <c:formatCode>General</c:formatCode>
                <c:ptCount val="6"/>
                <c:pt idx="0">
                  <c:v>8.5244999999999997</c:v>
                </c:pt>
                <c:pt idx="1">
                  <c:v>8.3171999999999997</c:v>
                </c:pt>
                <c:pt idx="2">
                  <c:v>6.3330000000000002</c:v>
                </c:pt>
                <c:pt idx="3">
                  <c:v>4.6764000000000001</c:v>
                </c:pt>
                <c:pt idx="4">
                  <c:v>3.5596000000000001</c:v>
                </c:pt>
                <c:pt idx="5">
                  <c:v>3.3651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692-4954-A565-340C6D607649}"/>
            </c:ext>
          </c:extLst>
        </c:ser>
        <c:dLbls>
          <c:showLegendKey val="1"/>
          <c:showVal val="0"/>
          <c:showCatName val="1"/>
          <c:showSerName val="1"/>
          <c:showPercent val="1"/>
          <c:showBubbleSize val="1"/>
        </c:dLbls>
        <c:marker val="1"/>
        <c:smooth val="0"/>
        <c:axId val="1407368431"/>
        <c:axId val="1407360271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  <a:endParaRPr lang="es-A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AR" sz="800">
                    <a:latin typeface="Arial"/>
                  </a:rPr>
                  <a:t>Horas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66666"/>
                </a:solidFill>
                <a:latin typeface="Arial"/>
              </a:defRPr>
            </a:pPr>
            <a:endParaRPr lang="es-AR"/>
          </a:p>
        </c:txPr>
        <c:crossAx val="2094734554"/>
        <c:crosses val="autoZero"/>
        <c:crossBetween val="between"/>
      </c:valAx>
      <c:valAx>
        <c:axId val="1407360271"/>
        <c:scaling>
          <c:orientation val="minMax"/>
          <c:max val="10"/>
          <c:min val="0"/>
        </c:scaling>
        <c:delete val="0"/>
        <c:axPos val="r"/>
        <c:title>
          <c:tx>
            <c:rich>
              <a:bodyPr/>
              <a:lstStyle/>
              <a:p>
                <a:r>
                  <a:rPr lang="es-AR" sz="800">
                    <a:solidFill>
                      <a:srgbClr val="028090"/>
                    </a:solidFill>
                    <a:latin typeface="Arial"/>
                  </a:rPr>
                  <a:t>% Ausentismo</a:t>
                </a:r>
              </a:p>
            </c:rich>
          </c:tx>
          <c:overlay val="0"/>
        </c:title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028090"/>
                </a:solidFill>
                <a:latin typeface="Arial"/>
              </a:defRPr>
            </a:pPr>
            <a:endParaRPr lang="es-AR"/>
          </a:p>
        </c:txPr>
        <c:crossAx val="1407368431"/>
        <c:crosses val="max"/>
        <c:crossBetween val="between"/>
      </c:valAx>
      <c:catAx>
        <c:axId val="1407368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407360271"/>
        <c:crosses val="autoZero"/>
        <c:auto val="1"/>
        <c:lblAlgn val="ctr"/>
        <c:lblOffset val="100"/>
        <c:noMultiLvlLbl val="1"/>
      </c:catAx>
      <c:spPr>
        <a:solidFill>
          <a:srgbClr val="FFFFFF"/>
        </a:solidFill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  <a:endParaRPr lang="es-A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25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0592-1F24-DE7E-2C23-F04FCB0B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80C2C-F18C-C3DA-0807-8045E8F3C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A851F-FA62-4245-8FE6-5E6D8A721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69D2B-0190-1D16-2FE4-A7E3265D8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5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HUMANOS  |  CIMOMET S.A.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0" y="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Indicadores de Personal  | 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438912"/>
            <a:ext cx="64008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374904" y="4389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 DE NÓMINA — JUNIO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30614"/>
              </p:ext>
            </p:extLst>
          </p:nvPr>
        </p:nvGraphicFramePr>
        <p:xfrm>
          <a:off x="256031" y="713232"/>
          <a:ext cx="4187950" cy="2154006"/>
        </p:xfrm>
        <a:graphic>
          <a:graphicData uri="http://schemas.openxmlformats.org/drawingml/2006/table">
            <a:tbl>
              <a:tblPr/>
              <a:tblGrid>
                <a:gridCol w="2026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CIMOMET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al 31/05/2026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677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— Taller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677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—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8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al 30/06/2026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8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55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— Taller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8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55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—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4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617720" y="402336"/>
            <a:ext cx="0" cy="461772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8"/>
          <p:cNvSpPr/>
          <p:nvPr/>
        </p:nvSpPr>
        <p:spPr>
          <a:xfrm>
            <a:off x="4736592" y="438912"/>
            <a:ext cx="64008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4855464" y="4389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 AL 30/06/2026</a:t>
            </a:r>
            <a:endParaRPr lang="en-US" sz="8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3277428766"/>
              </p:ext>
            </p:extLst>
          </p:nvPr>
        </p:nvGraphicFramePr>
        <p:xfrm>
          <a:off x="4727449" y="698641"/>
          <a:ext cx="2240279" cy="2167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0"/>
          <p:cNvSpPr/>
          <p:nvPr/>
        </p:nvSpPr>
        <p:spPr>
          <a:xfrm>
            <a:off x="6839712" y="438912"/>
            <a:ext cx="64008" cy="2286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1"/>
          <p:cNvSpPr/>
          <p:nvPr/>
        </p:nvSpPr>
        <p:spPr>
          <a:xfrm>
            <a:off x="7077456" y="2593199"/>
            <a:ext cx="217177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COMPOSICION TALLER</a:t>
            </a:r>
            <a:endParaRPr lang="en-US" sz="8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3706325654"/>
              </p:ext>
            </p:extLst>
          </p:nvPr>
        </p:nvGraphicFramePr>
        <p:xfrm>
          <a:off x="6871716" y="2852928"/>
          <a:ext cx="22402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4663440" y="491947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nómina = 88  (47 CIMOMET + 41 COMOING)  |  Mensual CIMOMET: 25  |  Mensual COMOING: 2</a:t>
            </a:r>
            <a:endParaRPr lang="en-US" sz="7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4DFDE3-A85D-305F-E964-75A5D048D7EF}"/>
              </a:ext>
            </a:extLst>
          </p:cNvPr>
          <p:cNvSpPr txBox="1"/>
          <p:nvPr/>
        </p:nvSpPr>
        <p:spPr>
          <a:xfrm>
            <a:off x="440986" y="3080426"/>
            <a:ext cx="3819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/>
              <a:t>Monotributistas (junio)  - 6 (ingeniería/comercial/seguridad/producción)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HUMANOS  |  CIMOMET S.A.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0" y="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Personal  |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438912"/>
            <a:ext cx="64008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374904" y="43891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TRABAJADAS — CAPATAZ  |  ENERO A JUNIO 2026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713232"/>
          <a:ext cx="8641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256032" y="4023360"/>
          <a:ext cx="8559432" cy="115246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CIMOMET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45.246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F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69.174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HUMANOS  |  CIMOMET S.A.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0" y="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Personal  |  3/4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402336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Ausentismo vs. Horas Trabajadas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7680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 taller CIMOMET + COMOING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274320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56032" y="1005840"/>
            <a:ext cx="54864" cy="868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365760" y="10241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HORAS TRABAJADAS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2070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69.174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15910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Ene–Jun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1952171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54864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3310128" y="10241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HORAS AUSENTISMO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10128" y="12070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4.011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10128" y="159105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Ene–Jun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50115" y="1005840"/>
            <a:ext cx="3437854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0" name="Bar_0"/>
          <p:cNvSpPr/>
          <p:nvPr/>
        </p:nvSpPr>
        <p:spPr>
          <a:xfrm>
            <a:off x="6006011" y="996696"/>
            <a:ext cx="54864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1" name="Lbl_0"/>
          <p:cNvSpPr/>
          <p:nvPr/>
        </p:nvSpPr>
        <p:spPr>
          <a:xfrm>
            <a:off x="6254496" y="1024128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Ene–Jun</a:t>
            </a:r>
            <a:endParaRPr lang="en-US" sz="700" dirty="0"/>
          </a:p>
        </p:txBody>
      </p:sp>
      <p:sp>
        <p:nvSpPr>
          <p:cNvPr id="102" name="Val_0"/>
          <p:cNvSpPr/>
          <p:nvPr/>
        </p:nvSpPr>
        <p:spPr>
          <a:xfrm>
            <a:off x="6254496" y="1207008"/>
            <a:ext cx="77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5,8%</a:t>
            </a:r>
            <a:endParaRPr lang="en-US" sz="2000" dirty="0"/>
          </a:p>
        </p:txBody>
      </p:sp>
      <p:sp>
        <p:nvSpPr>
          <p:cNvPr id="103" name="Sub_0"/>
          <p:cNvSpPr/>
          <p:nvPr/>
        </p:nvSpPr>
        <p:spPr>
          <a:xfrm>
            <a:off x="6254496" y="1591056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Ene–Jun 2026</a:t>
            </a:r>
            <a:endParaRPr lang="en-US" sz="800" dirty="0"/>
          </a:p>
        </p:txBody>
      </p:sp>
      <p:sp>
        <p:nvSpPr>
          <p:cNvPr id="104" name="Bar_1"/>
          <p:cNvSpPr/>
          <p:nvPr/>
        </p:nvSpPr>
        <p:spPr>
          <a:xfrm>
            <a:off x="7050024" y="1005840"/>
            <a:ext cx="54864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5" name="Lbl_1"/>
          <p:cNvSpPr/>
          <p:nvPr/>
        </p:nvSpPr>
        <p:spPr>
          <a:xfrm>
            <a:off x="7159752" y="1024128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Ene–Mar</a:t>
            </a:r>
            <a:endParaRPr lang="en-US" sz="700" dirty="0"/>
          </a:p>
        </p:txBody>
      </p:sp>
      <p:sp>
        <p:nvSpPr>
          <p:cNvPr id="106" name="Val_1"/>
          <p:cNvSpPr/>
          <p:nvPr/>
        </p:nvSpPr>
        <p:spPr>
          <a:xfrm>
            <a:off x="7159752" y="1207008"/>
            <a:ext cx="77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7,7%</a:t>
            </a:r>
            <a:endParaRPr lang="en-US" sz="2000" dirty="0"/>
          </a:p>
        </p:txBody>
      </p:sp>
      <p:sp>
        <p:nvSpPr>
          <p:cNvPr id="107" name="Sub_1"/>
          <p:cNvSpPr/>
          <p:nvPr/>
        </p:nvSpPr>
        <p:spPr>
          <a:xfrm>
            <a:off x="7159752" y="1591056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Ene–Mar 2026</a:t>
            </a:r>
            <a:endParaRPr lang="en-US" sz="800" dirty="0"/>
          </a:p>
        </p:txBody>
      </p:sp>
      <p:sp>
        <p:nvSpPr>
          <p:cNvPr id="108" name="Bar_2"/>
          <p:cNvSpPr/>
          <p:nvPr/>
        </p:nvSpPr>
        <p:spPr>
          <a:xfrm>
            <a:off x="7955280" y="1005840"/>
            <a:ext cx="54864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9" name="Lbl_2"/>
          <p:cNvSpPr/>
          <p:nvPr/>
        </p:nvSpPr>
        <p:spPr>
          <a:xfrm>
            <a:off x="8065008" y="1024128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Abr–Jun</a:t>
            </a:r>
            <a:endParaRPr lang="en-US" sz="700" dirty="0"/>
          </a:p>
        </p:txBody>
      </p:sp>
      <p:sp>
        <p:nvSpPr>
          <p:cNvPr id="110" name="Val_2"/>
          <p:cNvSpPr/>
          <p:nvPr/>
        </p:nvSpPr>
        <p:spPr>
          <a:xfrm>
            <a:off x="8065008" y="1207008"/>
            <a:ext cx="775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2000" dirty="0"/>
          </a:p>
        </p:txBody>
      </p:sp>
      <p:sp>
        <p:nvSpPr>
          <p:cNvPr id="111" name="Sub_2"/>
          <p:cNvSpPr/>
          <p:nvPr/>
        </p:nvSpPr>
        <p:spPr>
          <a:xfrm>
            <a:off x="8065008" y="1591056"/>
            <a:ext cx="775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Abr–Jun 2026</a:t>
            </a:r>
            <a:endParaRPr lang="en-US" sz="8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3080696244"/>
              </p:ext>
            </p:extLst>
          </p:nvPr>
        </p:nvGraphicFramePr>
        <p:xfrm>
          <a:off x="256032" y="1938528"/>
          <a:ext cx="8641080" cy="2436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D5676-51EF-CC3D-5E33-58DE927C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750CDF-1A24-175F-A7A1-6E0F462FEAB0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DCCF5F-9E4C-3FBE-5AE0-95C960CF7E5E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A50091-E52F-AC2F-9EEA-27F02AADD659}"/>
              </a:ext>
            </a:extLst>
          </p:cNvPr>
          <p:cNvSpPr/>
          <p:nvPr/>
        </p:nvSpPr>
        <p:spPr>
          <a:xfrm>
            <a:off x="274320" y="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HUMANOS  |  CIMOMET S.A.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7CDF85-50B3-5777-C75A-C1916A3F0C92}"/>
              </a:ext>
            </a:extLst>
          </p:cNvPr>
          <p:cNvSpPr/>
          <p:nvPr/>
        </p:nvSpPr>
        <p:spPr>
          <a:xfrm>
            <a:off x="5669280" y="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Personal  |  4/4</a:t>
            </a:r>
            <a:endParaRPr lang="en-US" sz="800" dirty="0"/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EA32BE5A-4E11-05ED-A99C-79712DFAE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26692"/>
              </p:ext>
            </p:extLst>
          </p:nvPr>
        </p:nvGraphicFramePr>
        <p:xfrm>
          <a:off x="583762" y="406940"/>
          <a:ext cx="7682173" cy="4631796"/>
        </p:xfrm>
        <a:graphic>
          <a:graphicData uri="http://schemas.openxmlformats.org/drawingml/2006/table">
            <a:tbl>
              <a:tblPr/>
              <a:tblGrid>
                <a:gridCol w="106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22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6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46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8018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AUSENTISMO POR TIPO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95206760"/>
                  </a:ext>
                </a:extLst>
              </a:tr>
              <a:tr h="304811">
                <a:tc grid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0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COMOING + CIMOMET  |  Ene–Jun 2026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4405343"/>
                  </a:ext>
                </a:extLst>
              </a:tr>
              <a:tr h="5080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Tipo de Novedad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Ene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Feb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Mar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Abr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May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Jun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s-A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  <a:b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Horas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6510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Aus. Sin Aviso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275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1.356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Aus. Con Aviso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706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Accidente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333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598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Enfermedad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Acc. cargo ART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281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Permiso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244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Enf. Traumatismo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159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Enf. Otras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Lic. Matrimonial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Acc. cargo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Fallec. Familiar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Suspensión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Cit. Legal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Donación Sangre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Franco Comp.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C0392B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1F3864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GENERAL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1.037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1" i="0" u="none" strike="noStrike">
                          <a:solidFill>
                            <a:srgbClr val="C55A11"/>
                          </a:solidFill>
                          <a:effectLst/>
                          <a:latin typeface="Arial" panose="020B0604020202020204" pitchFamily="34" charset="0"/>
                        </a:rPr>
                        <a:t>4.011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A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56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483</Words>
  <Application>Microsoft Office PowerPoint</Application>
  <PresentationFormat>Presentación en pantalla (16:9)</PresentationFormat>
  <Paragraphs>290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RRHH — CIMOMET S.A.</dc:title>
  <dc:subject>PptxGenJS Presentation</dc:subject>
  <dc:creator>PptxGenJS</dc:creator>
  <cp:lastModifiedBy>Valentin Angulo</cp:lastModifiedBy>
  <cp:revision>14</cp:revision>
  <dcterms:created xsi:type="dcterms:W3CDTF">2026-06-04T17:06:03Z</dcterms:created>
  <dcterms:modified xsi:type="dcterms:W3CDTF">2026-07-07T09:54:45Z</dcterms:modified>
</cp:coreProperties>
</file>